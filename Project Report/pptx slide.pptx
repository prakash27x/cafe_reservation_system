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Be Vietnam Ultra-Bold" panose="020B0604020202020204" charset="0"/>
      <p:regular r:id="rId13"/>
    </p:embeddedFont>
    <p:embeddedFont>
      <p:font typeface="Calibri" panose="020F0502020204030204" pitchFamily="34" charset="0"/>
      <p:regular r:id="rId14"/>
      <p:bold r:id="rId15"/>
      <p:italic r:id="rId16"/>
      <p:boldItalic r:id="rId17"/>
    </p:embeddedFont>
    <p:embeddedFont>
      <p:font typeface="Be Vietnam" panose="020B0604020202020204" charset="0"/>
      <p:regular r:id="rId18"/>
    </p:embeddedFont>
    <p:embeddedFont>
      <p:font typeface="Montserrat" panose="020B0604020202020204" charset="0"/>
      <p:regular r:id="rId19"/>
    </p:embeddedFont>
    <p:embeddedFont>
      <p:font typeface="Montserrat Bold" panose="020B0604020202020204" charset="0"/>
      <p:regular r:id="rId20"/>
    </p:embeddedFont>
    <p:embeddedFont>
      <p:font typeface="Montserrat Semi-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2/27/2024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2/27/2024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2/27/2024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3.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5.png"/><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6.pn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368601" y="6775362"/>
            <a:ext cx="8797964" cy="0"/>
          </a:xfrm>
          <a:prstGeom prst="line">
            <a:avLst/>
          </a:prstGeom>
          <a:ln w="47625" cap="flat">
            <a:solidFill>
              <a:srgbClr val="000000"/>
            </a:solidFill>
            <a:prstDash val="solid"/>
            <a:headEnd type="none" w="sm" len="sm"/>
            <a:tailEnd type="none" w="sm" len="sm"/>
          </a:ln>
        </p:spPr>
      </p:sp>
      <p:sp>
        <p:nvSpPr>
          <p:cNvPr id="3" name="TextBox 3"/>
          <p:cNvSpPr txBox="1"/>
          <p:nvPr/>
        </p:nvSpPr>
        <p:spPr>
          <a:xfrm>
            <a:off x="3368601" y="3592601"/>
            <a:ext cx="9306743" cy="3158949"/>
          </a:xfrm>
          <a:prstGeom prst="rect">
            <a:avLst/>
          </a:prstGeom>
        </p:spPr>
        <p:txBody>
          <a:bodyPr lIns="0" tIns="0" rIns="0" bIns="0" rtlCol="0" anchor="t">
            <a:spAutoFit/>
          </a:bodyPr>
          <a:lstStyle/>
          <a:p>
            <a:pPr>
              <a:lnSpc>
                <a:spcPts val="8215"/>
              </a:lnSpc>
            </a:pPr>
            <a:r>
              <a:rPr lang="en-US" sz="7824" spc="876">
                <a:solidFill>
                  <a:srgbClr val="000000"/>
                </a:solidFill>
                <a:latin typeface="Montserrat Bold"/>
              </a:rPr>
              <a:t>CAFE RESERVATION SYSTEM</a:t>
            </a:r>
          </a:p>
        </p:txBody>
      </p:sp>
      <p:sp>
        <p:nvSpPr>
          <p:cNvPr id="4" name="TextBox 4"/>
          <p:cNvSpPr txBox="1"/>
          <p:nvPr/>
        </p:nvSpPr>
        <p:spPr>
          <a:xfrm>
            <a:off x="13983210" y="8291195"/>
            <a:ext cx="3276090" cy="906780"/>
          </a:xfrm>
          <a:prstGeom prst="rect">
            <a:avLst/>
          </a:prstGeom>
        </p:spPr>
        <p:txBody>
          <a:bodyPr lIns="0" tIns="0" rIns="0" bIns="0" rtlCol="0" anchor="t">
            <a:spAutoFit/>
          </a:bodyPr>
          <a:lstStyle/>
          <a:p>
            <a:pPr algn="r">
              <a:lnSpc>
                <a:spcPts val="3659"/>
              </a:lnSpc>
            </a:pPr>
            <a:r>
              <a:rPr lang="en-US" sz="2999">
                <a:solidFill>
                  <a:srgbClr val="000000"/>
                </a:solidFill>
                <a:latin typeface="Montserrat Semi-Bold"/>
              </a:rPr>
              <a:t>Prakash Mahara</a:t>
            </a:r>
          </a:p>
          <a:p>
            <a:pPr algn="r">
              <a:lnSpc>
                <a:spcPts val="3659"/>
              </a:lnSpc>
            </a:pPr>
            <a:r>
              <a:rPr lang="en-US" sz="2999">
                <a:solidFill>
                  <a:srgbClr val="000000"/>
                </a:solidFill>
                <a:latin typeface="Montserrat Semi-Bold"/>
              </a:rPr>
              <a:t>Shushil Mishra</a:t>
            </a:r>
          </a:p>
        </p:txBody>
      </p:sp>
      <p:grpSp>
        <p:nvGrpSpPr>
          <p:cNvPr id="5" name="Group 5"/>
          <p:cNvGrpSpPr/>
          <p:nvPr/>
        </p:nvGrpSpPr>
        <p:grpSpPr>
          <a:xfrm>
            <a:off x="1028700" y="639954"/>
            <a:ext cx="2320851" cy="777492"/>
            <a:chOff x="0" y="0"/>
            <a:chExt cx="3094468" cy="1036656"/>
          </a:xfrm>
        </p:grpSpPr>
        <p:grpSp>
          <p:nvGrpSpPr>
            <p:cNvPr id="6" name="Group 6"/>
            <p:cNvGrpSpPr/>
            <p:nvPr/>
          </p:nvGrpSpPr>
          <p:grpSpPr>
            <a:xfrm>
              <a:off x="0" y="0"/>
              <a:ext cx="3094468" cy="1036656"/>
              <a:chOff x="0" y="0"/>
              <a:chExt cx="494981" cy="165820"/>
            </a:xfrm>
          </p:grpSpPr>
          <p:sp>
            <p:nvSpPr>
              <p:cNvPr id="7" name="Freeform 7"/>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8" name="TextBox 8"/>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9" name="Freeform 9"/>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2"/>
              <a:stretch>
                <a:fillRect/>
              </a:stretch>
            </a:blipFill>
          </p:spPr>
        </p:sp>
        <p:sp>
          <p:nvSpPr>
            <p:cNvPr id="10" name="TextBox 10"/>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8700" y="526610"/>
            <a:ext cx="2320851" cy="777492"/>
            <a:chOff x="0" y="0"/>
            <a:chExt cx="3094468" cy="1036656"/>
          </a:xfrm>
        </p:grpSpPr>
        <p:grpSp>
          <p:nvGrpSpPr>
            <p:cNvPr id="3" name="Group 3"/>
            <p:cNvGrpSpPr/>
            <p:nvPr/>
          </p:nvGrpSpPr>
          <p:grpSpPr>
            <a:xfrm>
              <a:off x="0" y="0"/>
              <a:ext cx="3094468" cy="1036656"/>
              <a:chOff x="0" y="0"/>
              <a:chExt cx="494981" cy="165820"/>
            </a:xfrm>
          </p:grpSpPr>
          <p:sp>
            <p:nvSpPr>
              <p:cNvPr id="4" name="Freeform 4"/>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5" name="TextBox 5"/>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6" name="Freeform 6"/>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2"/>
              <a:stretch>
                <a:fillRect/>
              </a:stretch>
            </a:blipFill>
          </p:spPr>
        </p:sp>
        <p:sp>
          <p:nvSpPr>
            <p:cNvPr id="7" name="TextBox 7"/>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8" name="Freeform 8"/>
          <p:cNvSpPr/>
          <p:nvPr/>
        </p:nvSpPr>
        <p:spPr>
          <a:xfrm>
            <a:off x="8638223" y="604389"/>
            <a:ext cx="1745780" cy="621934"/>
          </a:xfrm>
          <a:custGeom>
            <a:avLst/>
            <a:gdLst/>
            <a:ahLst/>
            <a:cxnLst/>
            <a:rect l="l" t="t" r="r" b="b"/>
            <a:pathLst>
              <a:path w="1745780" h="621934">
                <a:moveTo>
                  <a:pt x="0" y="0"/>
                </a:moveTo>
                <a:lnTo>
                  <a:pt x="1745780" y="0"/>
                </a:lnTo>
                <a:lnTo>
                  <a:pt x="1745780" y="621934"/>
                </a:lnTo>
                <a:lnTo>
                  <a:pt x="0" y="62193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9" name="Freeform 9"/>
          <p:cNvSpPr/>
          <p:nvPr/>
        </p:nvSpPr>
        <p:spPr>
          <a:xfrm>
            <a:off x="2390306" y="2493756"/>
            <a:ext cx="5698373" cy="5299487"/>
          </a:xfrm>
          <a:custGeom>
            <a:avLst/>
            <a:gdLst/>
            <a:ahLst/>
            <a:cxnLst/>
            <a:rect l="l" t="t" r="r" b="b"/>
            <a:pathLst>
              <a:path w="5698373" h="5299487">
                <a:moveTo>
                  <a:pt x="0" y="0"/>
                </a:moveTo>
                <a:lnTo>
                  <a:pt x="5698374" y="0"/>
                </a:lnTo>
                <a:lnTo>
                  <a:pt x="5698374" y="5299488"/>
                </a:lnTo>
                <a:lnTo>
                  <a:pt x="0" y="5299488"/>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0" name="TextBox 10"/>
          <p:cNvSpPr txBox="1"/>
          <p:nvPr/>
        </p:nvSpPr>
        <p:spPr>
          <a:xfrm>
            <a:off x="8961966" y="1728699"/>
            <a:ext cx="6640743" cy="7878969"/>
          </a:xfrm>
          <a:prstGeom prst="rect">
            <a:avLst/>
          </a:prstGeom>
        </p:spPr>
        <p:txBody>
          <a:bodyPr lIns="0" tIns="0" rIns="0" bIns="0" rtlCol="0" anchor="t">
            <a:spAutoFit/>
          </a:bodyPr>
          <a:lstStyle/>
          <a:p>
            <a:pPr marL="1072586" lvl="1" indent="-536293" algn="just">
              <a:lnSpc>
                <a:spcPts val="6955"/>
              </a:lnSpc>
              <a:buFont typeface="Arial"/>
              <a:buChar char="•"/>
            </a:pPr>
            <a:r>
              <a:rPr lang="en-US" sz="4967">
                <a:solidFill>
                  <a:srgbClr val="000000"/>
                </a:solidFill>
                <a:latin typeface="Montserrat"/>
              </a:rPr>
              <a:t>Introduction</a:t>
            </a:r>
          </a:p>
          <a:p>
            <a:pPr marL="1072586" lvl="1" indent="-536293" algn="just">
              <a:lnSpc>
                <a:spcPts val="6955"/>
              </a:lnSpc>
              <a:buFont typeface="Arial"/>
              <a:buChar char="•"/>
            </a:pPr>
            <a:r>
              <a:rPr lang="en-US" sz="4967">
                <a:solidFill>
                  <a:srgbClr val="000000"/>
                </a:solidFill>
                <a:latin typeface="Montserrat"/>
              </a:rPr>
              <a:t>Problem</a:t>
            </a:r>
          </a:p>
          <a:p>
            <a:pPr marL="1072586" lvl="1" indent="-536293" algn="just">
              <a:lnSpc>
                <a:spcPts val="6955"/>
              </a:lnSpc>
              <a:buFont typeface="Arial"/>
              <a:buChar char="•"/>
            </a:pPr>
            <a:r>
              <a:rPr lang="en-US" sz="4967">
                <a:solidFill>
                  <a:srgbClr val="000000"/>
                </a:solidFill>
                <a:latin typeface="Montserrat"/>
              </a:rPr>
              <a:t>Solution</a:t>
            </a:r>
          </a:p>
          <a:p>
            <a:pPr marL="1072586" lvl="1" indent="-536293" algn="just">
              <a:lnSpc>
                <a:spcPts val="6955"/>
              </a:lnSpc>
              <a:buFont typeface="Arial"/>
              <a:buChar char="•"/>
            </a:pPr>
            <a:r>
              <a:rPr lang="en-US" sz="4967">
                <a:solidFill>
                  <a:srgbClr val="000000"/>
                </a:solidFill>
                <a:latin typeface="Montserrat"/>
              </a:rPr>
              <a:t>Objective</a:t>
            </a:r>
          </a:p>
          <a:p>
            <a:pPr marL="1072586" lvl="1" indent="-536293" algn="just">
              <a:lnSpc>
                <a:spcPts val="6955"/>
              </a:lnSpc>
              <a:buFont typeface="Arial"/>
              <a:buChar char="•"/>
            </a:pPr>
            <a:r>
              <a:rPr lang="en-US" sz="4967">
                <a:solidFill>
                  <a:srgbClr val="000000"/>
                </a:solidFill>
                <a:latin typeface="Montserrat"/>
              </a:rPr>
              <a:t>Literature Review</a:t>
            </a:r>
          </a:p>
          <a:p>
            <a:pPr marL="1072586" lvl="1" indent="-536293" algn="just">
              <a:lnSpc>
                <a:spcPts val="6955"/>
              </a:lnSpc>
              <a:buFont typeface="Arial"/>
              <a:buChar char="•"/>
            </a:pPr>
            <a:r>
              <a:rPr lang="en-US" sz="4967">
                <a:solidFill>
                  <a:srgbClr val="000000"/>
                </a:solidFill>
                <a:latin typeface="Montserrat"/>
              </a:rPr>
              <a:t>Future Plan</a:t>
            </a:r>
          </a:p>
          <a:p>
            <a:pPr marL="1072586" lvl="1" indent="-536293" algn="just">
              <a:lnSpc>
                <a:spcPts val="6955"/>
              </a:lnSpc>
              <a:buFont typeface="Arial"/>
              <a:buChar char="•"/>
            </a:pPr>
            <a:r>
              <a:rPr lang="en-US" sz="4967">
                <a:solidFill>
                  <a:srgbClr val="000000"/>
                </a:solidFill>
                <a:latin typeface="Montserrat"/>
              </a:rPr>
              <a:t>Technical Part</a:t>
            </a:r>
          </a:p>
          <a:p>
            <a:pPr marL="1072586" lvl="1" indent="-536293" algn="just">
              <a:lnSpc>
                <a:spcPts val="6955"/>
              </a:lnSpc>
              <a:buFont typeface="Arial"/>
              <a:buChar char="•"/>
            </a:pPr>
            <a:r>
              <a:rPr lang="en-US" sz="4967">
                <a:solidFill>
                  <a:srgbClr val="000000"/>
                </a:solidFill>
                <a:latin typeface="Montserrat"/>
              </a:rPr>
              <a:t>Methodology</a:t>
            </a:r>
          </a:p>
          <a:p>
            <a:pPr algn="just">
              <a:lnSpc>
                <a:spcPts val="6955"/>
              </a:lnSpc>
            </a:pPr>
            <a:endParaRPr lang="en-US" sz="4967">
              <a:solidFill>
                <a:srgbClr val="000000"/>
              </a:solidFill>
              <a:latin typeface="Montserrat"/>
            </a:endParaRPr>
          </a:p>
        </p:txBody>
      </p:sp>
      <p:sp>
        <p:nvSpPr>
          <p:cNvPr id="11" name="TextBox 11"/>
          <p:cNvSpPr txBox="1"/>
          <p:nvPr/>
        </p:nvSpPr>
        <p:spPr>
          <a:xfrm>
            <a:off x="10531850" y="713138"/>
            <a:ext cx="1521888"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Introduction</a:t>
            </a:r>
          </a:p>
        </p:txBody>
      </p:sp>
      <p:sp>
        <p:nvSpPr>
          <p:cNvPr id="12" name="TextBox 12"/>
          <p:cNvSpPr txBox="1"/>
          <p:nvPr/>
        </p:nvSpPr>
        <p:spPr>
          <a:xfrm>
            <a:off x="8804701"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Agenda</a:t>
            </a:r>
          </a:p>
        </p:txBody>
      </p:sp>
      <p:sp>
        <p:nvSpPr>
          <p:cNvPr id="13" name="TextBox 13"/>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14" name="TextBox 14"/>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15" name="TextBox 15"/>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Other</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96091" y="619659"/>
            <a:ext cx="1745780" cy="621934"/>
          </a:xfrm>
          <a:custGeom>
            <a:avLst/>
            <a:gdLst/>
            <a:ahLst/>
            <a:cxnLst/>
            <a:rect l="l" t="t" r="r" b="b"/>
            <a:pathLst>
              <a:path w="1745780" h="621934">
                <a:moveTo>
                  <a:pt x="0" y="0"/>
                </a:moveTo>
                <a:lnTo>
                  <a:pt x="1745780" y="0"/>
                </a:lnTo>
                <a:lnTo>
                  <a:pt x="1745780" y="621934"/>
                </a:lnTo>
                <a:lnTo>
                  <a:pt x="0" y="62193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0531850" y="713138"/>
            <a:ext cx="1521888"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Introduction</a:t>
            </a:r>
          </a:p>
        </p:txBody>
      </p:sp>
      <p:sp>
        <p:nvSpPr>
          <p:cNvPr id="4" name="TextBox 4"/>
          <p:cNvSpPr txBox="1"/>
          <p:nvPr/>
        </p:nvSpPr>
        <p:spPr>
          <a:xfrm>
            <a:off x="8804701" y="73218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5" name="TextBox 5"/>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6" name="TextBox 6"/>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7" name="TextBox 7"/>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Other</a:t>
            </a:r>
          </a:p>
        </p:txBody>
      </p:sp>
      <p:grpSp>
        <p:nvGrpSpPr>
          <p:cNvPr id="8" name="Group 8"/>
          <p:cNvGrpSpPr/>
          <p:nvPr/>
        </p:nvGrpSpPr>
        <p:grpSpPr>
          <a:xfrm>
            <a:off x="1028700" y="526610"/>
            <a:ext cx="2320851" cy="777492"/>
            <a:chOff x="0" y="0"/>
            <a:chExt cx="3094468" cy="1036656"/>
          </a:xfrm>
        </p:grpSpPr>
        <p:grpSp>
          <p:nvGrpSpPr>
            <p:cNvPr id="9" name="Group 9"/>
            <p:cNvGrpSpPr/>
            <p:nvPr/>
          </p:nvGrpSpPr>
          <p:grpSpPr>
            <a:xfrm>
              <a:off x="0" y="0"/>
              <a:ext cx="3094468" cy="1036656"/>
              <a:chOff x="0" y="0"/>
              <a:chExt cx="494981" cy="165820"/>
            </a:xfrm>
          </p:grpSpPr>
          <p:sp>
            <p:nvSpPr>
              <p:cNvPr id="10" name="Freeform 10"/>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11" name="TextBox 11"/>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12" name="Freeform 12"/>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13" name="TextBox 13"/>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14" name="TextBox 14"/>
          <p:cNvSpPr txBox="1"/>
          <p:nvPr/>
        </p:nvSpPr>
        <p:spPr>
          <a:xfrm>
            <a:off x="2846279" y="4565015"/>
            <a:ext cx="13329667" cy="1099820"/>
          </a:xfrm>
          <a:prstGeom prst="rect">
            <a:avLst/>
          </a:prstGeom>
        </p:spPr>
        <p:txBody>
          <a:bodyPr lIns="0" tIns="0" rIns="0" bIns="0" rtlCol="0" anchor="t">
            <a:spAutoFit/>
          </a:bodyPr>
          <a:lstStyle/>
          <a:p>
            <a:pPr algn="ctr">
              <a:lnSpc>
                <a:spcPts val="4479"/>
              </a:lnSpc>
            </a:pPr>
            <a:r>
              <a:rPr lang="en-US" sz="3199">
                <a:solidFill>
                  <a:srgbClr val="000000"/>
                </a:solidFill>
                <a:latin typeface="Be Vietnam Bold"/>
              </a:rPr>
              <a:t>Introducing an online web app platform where customers can reserve a cafe's table without the need to visit the cafe physically.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34713" y="657759"/>
            <a:ext cx="1603324" cy="571184"/>
          </a:xfrm>
          <a:custGeom>
            <a:avLst/>
            <a:gdLst/>
            <a:ahLst/>
            <a:cxnLst/>
            <a:rect l="l" t="t" r="r" b="b"/>
            <a:pathLst>
              <a:path w="1603324" h="571184">
                <a:moveTo>
                  <a:pt x="0" y="0"/>
                </a:moveTo>
                <a:lnTo>
                  <a:pt x="1603324" y="0"/>
                </a:lnTo>
                <a:lnTo>
                  <a:pt x="1603324" y="571184"/>
                </a:lnTo>
                <a:lnTo>
                  <a:pt x="0" y="5711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028700" y="526610"/>
            <a:ext cx="2320851" cy="777492"/>
            <a:chOff x="0" y="0"/>
            <a:chExt cx="3094468" cy="1036656"/>
          </a:xfrm>
        </p:grpSpPr>
        <p:grpSp>
          <p:nvGrpSpPr>
            <p:cNvPr id="4" name="Group 4"/>
            <p:cNvGrpSpPr/>
            <p:nvPr/>
          </p:nvGrpSpPr>
          <p:grpSpPr>
            <a:xfrm>
              <a:off x="0" y="0"/>
              <a:ext cx="3094468" cy="1036656"/>
              <a:chOff x="0" y="0"/>
              <a:chExt cx="494981" cy="165820"/>
            </a:xfrm>
          </p:grpSpPr>
          <p:sp>
            <p:nvSpPr>
              <p:cNvPr id="5" name="Freeform 5"/>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6" name="TextBox 6"/>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7" name="Freeform 7"/>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8" name="TextBox 8"/>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9" name="Freeform 9"/>
          <p:cNvSpPr/>
          <p:nvPr/>
        </p:nvSpPr>
        <p:spPr>
          <a:xfrm>
            <a:off x="1028700" y="3168820"/>
            <a:ext cx="2999722" cy="3269452"/>
          </a:xfrm>
          <a:custGeom>
            <a:avLst/>
            <a:gdLst/>
            <a:ahLst/>
            <a:cxnLst/>
            <a:rect l="l" t="t" r="r" b="b"/>
            <a:pathLst>
              <a:path w="2999722" h="3269452">
                <a:moveTo>
                  <a:pt x="0" y="0"/>
                </a:moveTo>
                <a:lnTo>
                  <a:pt x="2999722" y="0"/>
                </a:lnTo>
                <a:lnTo>
                  <a:pt x="2999722" y="3269451"/>
                </a:lnTo>
                <a:lnTo>
                  <a:pt x="0" y="3269451"/>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0" name="TextBox 10"/>
          <p:cNvSpPr txBox="1"/>
          <p:nvPr/>
        </p:nvSpPr>
        <p:spPr>
          <a:xfrm>
            <a:off x="10531850" y="713138"/>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11" name="TextBox 11"/>
          <p:cNvSpPr txBox="1"/>
          <p:nvPr/>
        </p:nvSpPr>
        <p:spPr>
          <a:xfrm>
            <a:off x="8804701" y="744913"/>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12" name="TextBox 12"/>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Problem</a:t>
            </a:r>
          </a:p>
        </p:txBody>
      </p:sp>
      <p:sp>
        <p:nvSpPr>
          <p:cNvPr id="13" name="TextBox 13"/>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14" name="TextBox 14"/>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Other</a:t>
            </a:r>
          </a:p>
        </p:txBody>
      </p:sp>
      <p:sp>
        <p:nvSpPr>
          <p:cNvPr id="15" name="TextBox 15"/>
          <p:cNvSpPr txBox="1"/>
          <p:nvPr/>
        </p:nvSpPr>
        <p:spPr>
          <a:xfrm>
            <a:off x="4179881" y="3801104"/>
            <a:ext cx="13655512" cy="2637168"/>
          </a:xfrm>
          <a:prstGeom prst="rect">
            <a:avLst/>
          </a:prstGeom>
        </p:spPr>
        <p:txBody>
          <a:bodyPr lIns="0" tIns="0" rIns="0" bIns="0" rtlCol="0" anchor="t">
            <a:spAutoFit/>
          </a:bodyPr>
          <a:lstStyle/>
          <a:p>
            <a:pPr marL="658387" lvl="1" indent="-329194">
              <a:lnSpc>
                <a:spcPts val="4269"/>
              </a:lnSpc>
              <a:buFont typeface="Arial"/>
              <a:buChar char="•"/>
            </a:pPr>
            <a:r>
              <a:rPr lang="en-US" sz="3049">
                <a:solidFill>
                  <a:srgbClr val="000000"/>
                </a:solidFill>
                <a:latin typeface="Be Vietnam Ultra-Bold"/>
              </a:rPr>
              <a:t>Service Delays:</a:t>
            </a:r>
            <a:r>
              <a:rPr lang="en-US" sz="3049">
                <a:solidFill>
                  <a:srgbClr val="000000"/>
                </a:solidFill>
                <a:latin typeface="Be Vietnam"/>
              </a:rPr>
              <a:t> </a:t>
            </a:r>
          </a:p>
          <a:p>
            <a:pPr>
              <a:lnSpc>
                <a:spcPts val="4269"/>
              </a:lnSpc>
            </a:pPr>
            <a:r>
              <a:rPr lang="en-US" sz="3049">
                <a:solidFill>
                  <a:srgbClr val="000000"/>
                </a:solidFill>
                <a:latin typeface="Be Vietnam"/>
              </a:rPr>
              <a:t>         Customers face delays in booking table and getting a menu. </a:t>
            </a:r>
          </a:p>
          <a:p>
            <a:pPr>
              <a:lnSpc>
                <a:spcPts val="4269"/>
              </a:lnSpc>
            </a:pPr>
            <a:endParaRPr lang="en-US" sz="3049">
              <a:solidFill>
                <a:srgbClr val="000000"/>
              </a:solidFill>
              <a:latin typeface="Be Vietnam"/>
            </a:endParaRPr>
          </a:p>
          <a:p>
            <a:pPr marL="658387" lvl="1" indent="-329194">
              <a:lnSpc>
                <a:spcPts val="4269"/>
              </a:lnSpc>
              <a:buFont typeface="Arial"/>
              <a:buChar char="•"/>
            </a:pPr>
            <a:r>
              <a:rPr lang="en-US" sz="3049">
                <a:solidFill>
                  <a:srgbClr val="000000"/>
                </a:solidFill>
                <a:latin typeface="Be Vietnam Ultra-Bold"/>
              </a:rPr>
              <a:t>Extended Wait Times: </a:t>
            </a:r>
          </a:p>
          <a:p>
            <a:pPr>
              <a:lnSpc>
                <a:spcPts val="4269"/>
              </a:lnSpc>
            </a:pPr>
            <a:r>
              <a:rPr lang="en-US" sz="3049">
                <a:solidFill>
                  <a:srgbClr val="000000"/>
                </a:solidFill>
                <a:latin typeface="Be Vietnam"/>
              </a:rPr>
              <a:t>        Customers may have to wait until cafe's table available for booking.</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827391" y="670920"/>
            <a:ext cx="1548415" cy="551623"/>
          </a:xfrm>
          <a:custGeom>
            <a:avLst/>
            <a:gdLst/>
            <a:ahLst/>
            <a:cxnLst/>
            <a:rect l="l" t="t" r="r" b="b"/>
            <a:pathLst>
              <a:path w="1548415" h="551623">
                <a:moveTo>
                  <a:pt x="0" y="0"/>
                </a:moveTo>
                <a:lnTo>
                  <a:pt x="1548415" y="0"/>
                </a:lnTo>
                <a:lnTo>
                  <a:pt x="1548415" y="551623"/>
                </a:lnTo>
                <a:lnTo>
                  <a:pt x="0" y="551623"/>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028700" y="526610"/>
            <a:ext cx="2320851" cy="777492"/>
            <a:chOff x="0" y="0"/>
            <a:chExt cx="3094468" cy="1036656"/>
          </a:xfrm>
        </p:grpSpPr>
        <p:grpSp>
          <p:nvGrpSpPr>
            <p:cNvPr id="4" name="Group 4"/>
            <p:cNvGrpSpPr/>
            <p:nvPr/>
          </p:nvGrpSpPr>
          <p:grpSpPr>
            <a:xfrm>
              <a:off x="0" y="0"/>
              <a:ext cx="3094468" cy="1036656"/>
              <a:chOff x="0" y="0"/>
              <a:chExt cx="494981" cy="165820"/>
            </a:xfrm>
          </p:grpSpPr>
          <p:sp>
            <p:nvSpPr>
              <p:cNvPr id="5" name="Freeform 5"/>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6" name="TextBox 6"/>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7" name="Freeform 7"/>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8" name="TextBox 8"/>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9" name="Freeform 9"/>
          <p:cNvSpPr/>
          <p:nvPr/>
        </p:nvSpPr>
        <p:spPr>
          <a:xfrm>
            <a:off x="1585947" y="3421781"/>
            <a:ext cx="3527210" cy="3443438"/>
          </a:xfrm>
          <a:custGeom>
            <a:avLst/>
            <a:gdLst/>
            <a:ahLst/>
            <a:cxnLst/>
            <a:rect l="l" t="t" r="r" b="b"/>
            <a:pathLst>
              <a:path w="3527210" h="3443438">
                <a:moveTo>
                  <a:pt x="0" y="0"/>
                </a:moveTo>
                <a:lnTo>
                  <a:pt x="3527209" y="0"/>
                </a:lnTo>
                <a:lnTo>
                  <a:pt x="3527209" y="3443438"/>
                </a:lnTo>
                <a:lnTo>
                  <a:pt x="0" y="3443438"/>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sp>
        <p:nvSpPr>
          <p:cNvPr id="10" name="TextBox 10"/>
          <p:cNvSpPr txBox="1"/>
          <p:nvPr/>
        </p:nvSpPr>
        <p:spPr>
          <a:xfrm>
            <a:off x="10512800" y="713138"/>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11" name="TextBox 11"/>
          <p:cNvSpPr txBox="1"/>
          <p:nvPr/>
        </p:nvSpPr>
        <p:spPr>
          <a:xfrm>
            <a:off x="8804701" y="738769"/>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12" name="TextBox 12"/>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13" name="TextBox 13"/>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Solution</a:t>
            </a:r>
          </a:p>
        </p:txBody>
      </p:sp>
      <p:sp>
        <p:nvSpPr>
          <p:cNvPr id="14" name="TextBox 14"/>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Other</a:t>
            </a:r>
          </a:p>
        </p:txBody>
      </p:sp>
      <p:sp>
        <p:nvSpPr>
          <p:cNvPr id="15" name="TextBox 15"/>
          <p:cNvSpPr txBox="1"/>
          <p:nvPr/>
        </p:nvSpPr>
        <p:spPr>
          <a:xfrm>
            <a:off x="6366133" y="4094399"/>
            <a:ext cx="9815222" cy="2041052"/>
          </a:xfrm>
          <a:prstGeom prst="rect">
            <a:avLst/>
          </a:prstGeom>
        </p:spPr>
        <p:txBody>
          <a:bodyPr lIns="0" tIns="0" rIns="0" bIns="0" rtlCol="0" anchor="t">
            <a:spAutoFit/>
          </a:bodyPr>
          <a:lstStyle/>
          <a:p>
            <a:pPr marL="624734" lvl="1" indent="-312367">
              <a:lnSpc>
                <a:spcPts val="4051"/>
              </a:lnSpc>
              <a:buFont typeface="Arial"/>
              <a:buChar char="•"/>
            </a:pPr>
            <a:r>
              <a:rPr lang="en-US" sz="2893">
                <a:solidFill>
                  <a:srgbClr val="000000"/>
                </a:solidFill>
                <a:latin typeface="Be Vietnam"/>
              </a:rPr>
              <a:t>Project introduces a digital menu to eliminate these    delays. </a:t>
            </a:r>
          </a:p>
          <a:p>
            <a:pPr marL="624734" lvl="1" indent="-312367">
              <a:lnSpc>
                <a:spcPts val="4051"/>
              </a:lnSpc>
              <a:buFont typeface="Arial"/>
              <a:buChar char="•"/>
            </a:pPr>
            <a:r>
              <a:rPr lang="en-US" sz="2893">
                <a:solidFill>
                  <a:srgbClr val="000000"/>
                </a:solidFill>
                <a:latin typeface="Be Vietnam"/>
              </a:rPr>
              <a:t>Project introduces online reservation platform where customers can book tables online.</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75624" y="635159"/>
            <a:ext cx="1648798" cy="587384"/>
          </a:xfrm>
          <a:custGeom>
            <a:avLst/>
            <a:gdLst/>
            <a:ahLst/>
            <a:cxnLst/>
            <a:rect l="l" t="t" r="r" b="b"/>
            <a:pathLst>
              <a:path w="1648798" h="587384">
                <a:moveTo>
                  <a:pt x="0" y="0"/>
                </a:moveTo>
                <a:lnTo>
                  <a:pt x="1648798" y="0"/>
                </a:lnTo>
                <a:lnTo>
                  <a:pt x="1648798" y="587384"/>
                </a:lnTo>
                <a:lnTo>
                  <a:pt x="0" y="5873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028700" y="526610"/>
            <a:ext cx="2320851" cy="777492"/>
            <a:chOff x="0" y="0"/>
            <a:chExt cx="3094468" cy="1036656"/>
          </a:xfrm>
        </p:grpSpPr>
        <p:grpSp>
          <p:nvGrpSpPr>
            <p:cNvPr id="4" name="Group 4"/>
            <p:cNvGrpSpPr/>
            <p:nvPr/>
          </p:nvGrpSpPr>
          <p:grpSpPr>
            <a:xfrm>
              <a:off x="0" y="0"/>
              <a:ext cx="3094468" cy="1036656"/>
              <a:chOff x="0" y="0"/>
              <a:chExt cx="494981" cy="165820"/>
            </a:xfrm>
          </p:grpSpPr>
          <p:sp>
            <p:nvSpPr>
              <p:cNvPr id="5" name="Freeform 5"/>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6" name="TextBox 6"/>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7" name="Freeform 7"/>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8" name="TextBox 8"/>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9" name="TextBox 9"/>
          <p:cNvSpPr txBox="1"/>
          <p:nvPr/>
        </p:nvSpPr>
        <p:spPr>
          <a:xfrm>
            <a:off x="3866480" y="3777481"/>
            <a:ext cx="14990038" cy="2684413"/>
          </a:xfrm>
          <a:prstGeom prst="rect">
            <a:avLst/>
          </a:prstGeom>
        </p:spPr>
        <p:txBody>
          <a:bodyPr lIns="0" tIns="0" rIns="0" bIns="0" rtlCol="0" anchor="t">
            <a:spAutoFit/>
          </a:bodyPr>
          <a:lstStyle/>
          <a:p>
            <a:pPr algn="just">
              <a:lnSpc>
                <a:spcPts val="4290"/>
              </a:lnSpc>
            </a:pPr>
            <a:r>
              <a:rPr lang="en-US" sz="3064">
                <a:solidFill>
                  <a:srgbClr val="000000"/>
                </a:solidFill>
                <a:latin typeface="Be Vietnam Ultra-Bold"/>
              </a:rPr>
              <a:t>Objectives:</a:t>
            </a:r>
          </a:p>
          <a:p>
            <a:pPr algn="just">
              <a:lnSpc>
                <a:spcPts val="4290"/>
              </a:lnSpc>
            </a:pPr>
            <a:endParaRPr lang="en-US" sz="3064">
              <a:solidFill>
                <a:srgbClr val="000000"/>
              </a:solidFill>
              <a:latin typeface="Be Vietnam Ultra-Bold"/>
            </a:endParaRPr>
          </a:p>
          <a:p>
            <a:pPr marL="661613" lvl="1" indent="-330806" algn="just">
              <a:lnSpc>
                <a:spcPts val="4290"/>
              </a:lnSpc>
              <a:buFont typeface="Arial"/>
              <a:buChar char="•"/>
            </a:pPr>
            <a:r>
              <a:rPr lang="en-US" sz="3064">
                <a:solidFill>
                  <a:srgbClr val="000000"/>
                </a:solidFill>
                <a:latin typeface="Be Vietnam"/>
              </a:rPr>
              <a:t>To make an efficient cafe's table booking system. </a:t>
            </a:r>
          </a:p>
          <a:p>
            <a:pPr marL="661613" lvl="1" indent="-330806" algn="just">
              <a:lnSpc>
                <a:spcPts val="4290"/>
              </a:lnSpc>
              <a:buFont typeface="Arial"/>
              <a:buChar char="•"/>
            </a:pPr>
            <a:r>
              <a:rPr lang="en-US" sz="3064">
                <a:solidFill>
                  <a:srgbClr val="000000"/>
                </a:solidFill>
                <a:latin typeface="Be Vietnam"/>
              </a:rPr>
              <a:t>To provide the customer instant access to the Café table and menu. </a:t>
            </a:r>
          </a:p>
          <a:p>
            <a:pPr marL="661613" lvl="1" indent="-330806" algn="just">
              <a:lnSpc>
                <a:spcPts val="4290"/>
              </a:lnSpc>
              <a:buFont typeface="Arial"/>
              <a:buChar char="•"/>
            </a:pPr>
            <a:r>
              <a:rPr lang="en-US" sz="3064">
                <a:solidFill>
                  <a:srgbClr val="000000"/>
                </a:solidFill>
                <a:latin typeface="Be Vietnam"/>
              </a:rPr>
              <a:t>To provide customers options to choose their seats.</a:t>
            </a:r>
          </a:p>
        </p:txBody>
      </p:sp>
      <p:sp>
        <p:nvSpPr>
          <p:cNvPr id="10" name="Freeform 10"/>
          <p:cNvSpPr/>
          <p:nvPr/>
        </p:nvSpPr>
        <p:spPr>
          <a:xfrm>
            <a:off x="1028700" y="3825106"/>
            <a:ext cx="2837780" cy="2910793"/>
          </a:xfrm>
          <a:custGeom>
            <a:avLst/>
            <a:gdLst/>
            <a:ahLst/>
            <a:cxnLst/>
            <a:rect l="l" t="t" r="r" b="b"/>
            <a:pathLst>
              <a:path w="2837780" h="2910793">
                <a:moveTo>
                  <a:pt x="0" y="0"/>
                </a:moveTo>
                <a:lnTo>
                  <a:pt x="2837780" y="0"/>
                </a:lnTo>
                <a:lnTo>
                  <a:pt x="2837780" y="2910793"/>
                </a:lnTo>
                <a:lnTo>
                  <a:pt x="0" y="2910793"/>
                </a:lnTo>
                <a:lnTo>
                  <a:pt x="0" y="0"/>
                </a:lnTo>
                <a:close/>
              </a:path>
            </a:pathLst>
          </a:custGeom>
          <a:blipFill>
            <a:blip r:embed="rId5">
              <a:alphaModFix amt="90000"/>
              <a:extLst>
                <a:ext uri="{96DAC541-7B7A-43D3-8B79-37D633B846F1}">
                  <asvg:svgBlip xmlns="" xmlns:asvg="http://schemas.microsoft.com/office/drawing/2016/SVG/main" r:embed="rId6"/>
                </a:ext>
              </a:extLst>
            </a:blip>
            <a:stretch>
              <a:fillRect/>
            </a:stretch>
          </a:blipFill>
        </p:spPr>
      </p:sp>
      <p:sp>
        <p:nvSpPr>
          <p:cNvPr id="11" name="TextBox 11"/>
          <p:cNvSpPr txBox="1"/>
          <p:nvPr/>
        </p:nvSpPr>
        <p:spPr>
          <a:xfrm>
            <a:off x="10531850" y="713138"/>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12" name="TextBox 12"/>
          <p:cNvSpPr txBox="1"/>
          <p:nvPr/>
        </p:nvSpPr>
        <p:spPr>
          <a:xfrm>
            <a:off x="8804701" y="730413"/>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13" name="TextBox 13"/>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14" name="TextBox 14"/>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15" name="TextBox 15"/>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Other</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75624" y="635159"/>
            <a:ext cx="1648798" cy="587384"/>
          </a:xfrm>
          <a:custGeom>
            <a:avLst/>
            <a:gdLst/>
            <a:ahLst/>
            <a:cxnLst/>
            <a:rect l="l" t="t" r="r" b="b"/>
            <a:pathLst>
              <a:path w="1648798" h="587384">
                <a:moveTo>
                  <a:pt x="0" y="0"/>
                </a:moveTo>
                <a:lnTo>
                  <a:pt x="1648798" y="0"/>
                </a:lnTo>
                <a:lnTo>
                  <a:pt x="1648798" y="587384"/>
                </a:lnTo>
                <a:lnTo>
                  <a:pt x="0" y="5873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0531850" y="713138"/>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4" name="TextBox 4"/>
          <p:cNvSpPr txBox="1"/>
          <p:nvPr/>
        </p:nvSpPr>
        <p:spPr>
          <a:xfrm>
            <a:off x="8804701" y="730413"/>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5" name="TextBox 5"/>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6" name="TextBox 6"/>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7" name="TextBox 7"/>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Other</a:t>
            </a:r>
          </a:p>
        </p:txBody>
      </p:sp>
      <p:grpSp>
        <p:nvGrpSpPr>
          <p:cNvPr id="8" name="Group 8"/>
          <p:cNvGrpSpPr/>
          <p:nvPr/>
        </p:nvGrpSpPr>
        <p:grpSpPr>
          <a:xfrm>
            <a:off x="1028700" y="526610"/>
            <a:ext cx="2320851" cy="777492"/>
            <a:chOff x="0" y="0"/>
            <a:chExt cx="3094468" cy="1036656"/>
          </a:xfrm>
        </p:grpSpPr>
        <p:grpSp>
          <p:nvGrpSpPr>
            <p:cNvPr id="9" name="Group 9"/>
            <p:cNvGrpSpPr/>
            <p:nvPr/>
          </p:nvGrpSpPr>
          <p:grpSpPr>
            <a:xfrm>
              <a:off x="0" y="0"/>
              <a:ext cx="3094468" cy="1036656"/>
              <a:chOff x="0" y="0"/>
              <a:chExt cx="494981" cy="165820"/>
            </a:xfrm>
          </p:grpSpPr>
          <p:sp>
            <p:nvSpPr>
              <p:cNvPr id="10" name="Freeform 10"/>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11" name="TextBox 11"/>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12" name="Freeform 12"/>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13" name="TextBox 13"/>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14" name="TextBox 14"/>
          <p:cNvSpPr txBox="1"/>
          <p:nvPr/>
        </p:nvSpPr>
        <p:spPr>
          <a:xfrm>
            <a:off x="1195608" y="2388870"/>
            <a:ext cx="15896784" cy="5937885"/>
          </a:xfrm>
          <a:prstGeom prst="rect">
            <a:avLst/>
          </a:prstGeom>
        </p:spPr>
        <p:txBody>
          <a:bodyPr lIns="0" tIns="0" rIns="0" bIns="0" rtlCol="0" anchor="t">
            <a:spAutoFit/>
          </a:bodyPr>
          <a:lstStyle/>
          <a:p>
            <a:pPr algn="l">
              <a:lnSpc>
                <a:spcPts val="7650"/>
              </a:lnSpc>
            </a:pPr>
            <a:r>
              <a:rPr lang="en-US" sz="3060" b="1" dirty="0">
                <a:solidFill>
                  <a:srgbClr val="000000"/>
                </a:solidFill>
                <a:latin typeface="Be Vietnam Bold"/>
              </a:rPr>
              <a:t>Literature Review:</a:t>
            </a:r>
          </a:p>
          <a:p>
            <a:pPr algn="just">
              <a:lnSpc>
                <a:spcPts val="4284"/>
              </a:lnSpc>
            </a:pPr>
            <a:r>
              <a:rPr lang="en-US" sz="3060" dirty="0">
                <a:solidFill>
                  <a:srgbClr val="000000"/>
                </a:solidFill>
                <a:latin typeface="Be Vietnam"/>
              </a:rPr>
              <a:t>In the past few years, it is experienced that customers are desirous to find a handy application for reservation of tables and menu or any other services to avoid physical walking to the cafe or contacting by call or reserving through a middle man. </a:t>
            </a:r>
          </a:p>
          <a:p>
            <a:pPr algn="just">
              <a:lnSpc>
                <a:spcPts val="4284"/>
              </a:lnSpc>
            </a:pPr>
            <a:endParaRPr lang="en-US" sz="3060" dirty="0">
              <a:solidFill>
                <a:srgbClr val="000000"/>
              </a:solidFill>
              <a:latin typeface="Be Vietnam"/>
            </a:endParaRPr>
          </a:p>
          <a:p>
            <a:pPr algn="just">
              <a:lnSpc>
                <a:spcPts val="4284"/>
              </a:lnSpc>
            </a:pPr>
            <a:r>
              <a:rPr lang="en-US" sz="3060" dirty="0">
                <a:solidFill>
                  <a:srgbClr val="000000"/>
                </a:solidFill>
                <a:latin typeface="Be Vietnam"/>
              </a:rPr>
              <a:t>Bringing a platform which provides café table booking was encouraged by the customers very much as well as the orders have been increasing day by day when compared to previous years. This platform is helpful not only for the customers but also useful for café receptionist to manage their management</a:t>
            </a:r>
          </a:p>
          <a:p>
            <a:pPr>
              <a:lnSpc>
                <a:spcPts val="4284"/>
              </a:lnSpc>
              <a:spcBef>
                <a:spcPct val="0"/>
              </a:spcBef>
            </a:pPr>
            <a:endParaRPr lang="en-US" sz="3060" dirty="0">
              <a:solidFill>
                <a:srgbClr val="000000"/>
              </a:solidFill>
              <a:latin typeface="Be Vietnam"/>
            </a:endParaRPr>
          </a:p>
        </p:txBody>
      </p:sp>
      <p:sp>
        <p:nvSpPr>
          <p:cNvPr id="15" name="Freeform 15"/>
          <p:cNvSpPr/>
          <p:nvPr/>
        </p:nvSpPr>
        <p:spPr>
          <a:xfrm>
            <a:off x="4648200" y="1790700"/>
            <a:ext cx="1481882" cy="1307761"/>
          </a:xfrm>
          <a:custGeom>
            <a:avLst/>
            <a:gdLst/>
            <a:ahLst/>
            <a:cxnLst/>
            <a:rect l="l" t="t" r="r" b="b"/>
            <a:pathLst>
              <a:path w="1481882" h="1307761">
                <a:moveTo>
                  <a:pt x="0" y="0"/>
                </a:moveTo>
                <a:lnTo>
                  <a:pt x="1481882" y="0"/>
                </a:lnTo>
                <a:lnTo>
                  <a:pt x="1481882" y="1307761"/>
                </a:lnTo>
                <a:lnTo>
                  <a:pt x="0" y="1307761"/>
                </a:lnTo>
                <a:lnTo>
                  <a:pt x="0" y="0"/>
                </a:lnTo>
                <a:close/>
              </a:path>
            </a:pathLst>
          </a:custGeom>
          <a:blipFill>
            <a:blip r:embed="rId5"/>
            <a:stretch>
              <a:fillRect/>
            </a:stretch>
          </a:blipFill>
        </p:spPr>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75624" y="635159"/>
            <a:ext cx="1648798" cy="587384"/>
          </a:xfrm>
          <a:custGeom>
            <a:avLst/>
            <a:gdLst/>
            <a:ahLst/>
            <a:cxnLst/>
            <a:rect l="l" t="t" r="r" b="b"/>
            <a:pathLst>
              <a:path w="1648798" h="587384">
                <a:moveTo>
                  <a:pt x="0" y="0"/>
                </a:moveTo>
                <a:lnTo>
                  <a:pt x="1648798" y="0"/>
                </a:lnTo>
                <a:lnTo>
                  <a:pt x="1648798" y="587384"/>
                </a:lnTo>
                <a:lnTo>
                  <a:pt x="0" y="5873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0531850" y="730413"/>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4" name="TextBox 4"/>
          <p:cNvSpPr txBox="1"/>
          <p:nvPr/>
        </p:nvSpPr>
        <p:spPr>
          <a:xfrm>
            <a:off x="8804701" y="730413"/>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5" name="TextBox 5"/>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6" name="TextBox 6"/>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7" name="TextBox 7"/>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Other</a:t>
            </a:r>
          </a:p>
        </p:txBody>
      </p:sp>
      <p:grpSp>
        <p:nvGrpSpPr>
          <p:cNvPr id="8" name="Group 8"/>
          <p:cNvGrpSpPr/>
          <p:nvPr/>
        </p:nvGrpSpPr>
        <p:grpSpPr>
          <a:xfrm>
            <a:off x="1028700" y="526610"/>
            <a:ext cx="2320851" cy="777492"/>
            <a:chOff x="0" y="0"/>
            <a:chExt cx="3094468" cy="1036656"/>
          </a:xfrm>
        </p:grpSpPr>
        <p:grpSp>
          <p:nvGrpSpPr>
            <p:cNvPr id="9" name="Group 9"/>
            <p:cNvGrpSpPr/>
            <p:nvPr/>
          </p:nvGrpSpPr>
          <p:grpSpPr>
            <a:xfrm>
              <a:off x="0" y="0"/>
              <a:ext cx="3094468" cy="1036656"/>
              <a:chOff x="0" y="0"/>
              <a:chExt cx="494981" cy="165820"/>
            </a:xfrm>
          </p:grpSpPr>
          <p:sp>
            <p:nvSpPr>
              <p:cNvPr id="10" name="Freeform 10"/>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11" name="TextBox 11"/>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12" name="Freeform 12"/>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13" name="TextBox 13"/>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14" name="TextBox 14"/>
          <p:cNvSpPr txBox="1"/>
          <p:nvPr/>
        </p:nvSpPr>
        <p:spPr>
          <a:xfrm>
            <a:off x="1834583" y="2873058"/>
            <a:ext cx="15353059" cy="4937634"/>
          </a:xfrm>
          <a:prstGeom prst="rect">
            <a:avLst/>
          </a:prstGeom>
        </p:spPr>
        <p:txBody>
          <a:bodyPr lIns="0" tIns="0" rIns="0" bIns="0" rtlCol="0" anchor="t">
            <a:spAutoFit/>
          </a:bodyPr>
          <a:lstStyle/>
          <a:p>
            <a:pPr>
              <a:lnSpc>
                <a:spcPts val="1899"/>
              </a:lnSpc>
            </a:pPr>
            <a:r>
              <a:rPr lang="en-US" sz="3799" b="1" dirty="0">
                <a:solidFill>
                  <a:srgbClr val="000000"/>
                </a:solidFill>
                <a:latin typeface="Be Vietnam Bold"/>
              </a:rPr>
              <a:t>Future Plan:</a:t>
            </a:r>
          </a:p>
          <a:p>
            <a:pPr>
              <a:lnSpc>
                <a:spcPts val="1749"/>
              </a:lnSpc>
            </a:pPr>
            <a:endParaRPr lang="en-US" sz="3799" dirty="0">
              <a:solidFill>
                <a:srgbClr val="000000"/>
              </a:solidFill>
              <a:latin typeface="Be Vietnam Bold"/>
            </a:endParaRPr>
          </a:p>
          <a:p>
            <a:pPr>
              <a:lnSpc>
                <a:spcPts val="1749"/>
              </a:lnSpc>
            </a:pPr>
            <a:endParaRPr lang="en-US" sz="3799" dirty="0">
              <a:solidFill>
                <a:srgbClr val="000000"/>
              </a:solidFill>
              <a:latin typeface="Be Vietnam Bold"/>
            </a:endParaRPr>
          </a:p>
          <a:p>
            <a:pPr marL="647700" lvl="1" indent="-323850">
              <a:lnSpc>
                <a:spcPts val="4200"/>
              </a:lnSpc>
              <a:buFont typeface="Arial"/>
              <a:buChar char="•"/>
            </a:pPr>
            <a:r>
              <a:rPr lang="en-US" sz="3000" dirty="0">
                <a:solidFill>
                  <a:srgbClr val="000000"/>
                </a:solidFill>
                <a:latin typeface="Be Vietnam Ultra-Bold"/>
              </a:rPr>
              <a:t>Mobile app integration: </a:t>
            </a:r>
          </a:p>
          <a:p>
            <a:pPr>
              <a:lnSpc>
                <a:spcPts val="4200"/>
              </a:lnSpc>
            </a:pPr>
            <a:r>
              <a:rPr lang="en-US" sz="3000" dirty="0">
                <a:solidFill>
                  <a:srgbClr val="000000"/>
                </a:solidFill>
                <a:latin typeface="Be Vietnam"/>
              </a:rPr>
              <a:t>        Offering a mobile app would enhance user accessibility and convenience.</a:t>
            </a:r>
          </a:p>
          <a:p>
            <a:pPr>
              <a:lnSpc>
                <a:spcPts val="4200"/>
              </a:lnSpc>
            </a:pPr>
            <a:endParaRPr lang="en-US" sz="3000" dirty="0">
              <a:solidFill>
                <a:srgbClr val="000000"/>
              </a:solidFill>
              <a:latin typeface="Be Vietnam"/>
            </a:endParaRPr>
          </a:p>
          <a:p>
            <a:pPr marL="647700" lvl="1" indent="-323850">
              <a:lnSpc>
                <a:spcPts val="4200"/>
              </a:lnSpc>
              <a:buFont typeface="Arial"/>
              <a:buChar char="•"/>
            </a:pPr>
            <a:r>
              <a:rPr lang="en-US" sz="3000" dirty="0">
                <a:solidFill>
                  <a:srgbClr val="000000"/>
                </a:solidFill>
                <a:latin typeface="Be Vietnam Ultra-Bold"/>
              </a:rPr>
              <a:t>Payment integration: </a:t>
            </a:r>
          </a:p>
          <a:p>
            <a:pPr>
              <a:lnSpc>
                <a:spcPts val="4200"/>
              </a:lnSpc>
            </a:pPr>
            <a:r>
              <a:rPr lang="en-US" sz="3000" dirty="0">
                <a:solidFill>
                  <a:srgbClr val="000000"/>
                </a:solidFill>
                <a:latin typeface="Be Vietnam"/>
              </a:rPr>
              <a:t>       Online payment processing portal supporting all mobile wallets. </a:t>
            </a:r>
          </a:p>
          <a:p>
            <a:pPr>
              <a:lnSpc>
                <a:spcPts val="4200"/>
              </a:lnSpc>
            </a:pPr>
            <a:endParaRPr lang="en-US" sz="3000" dirty="0">
              <a:solidFill>
                <a:srgbClr val="000000"/>
              </a:solidFill>
              <a:latin typeface="Be Vietnam"/>
            </a:endParaRPr>
          </a:p>
          <a:p>
            <a:pPr marL="647700" lvl="1" indent="-323850">
              <a:lnSpc>
                <a:spcPts val="4200"/>
              </a:lnSpc>
              <a:buFont typeface="Arial"/>
              <a:buChar char="•"/>
            </a:pPr>
            <a:r>
              <a:rPr lang="en-US" sz="3000" dirty="0">
                <a:solidFill>
                  <a:srgbClr val="000000"/>
                </a:solidFill>
                <a:latin typeface="Be Vietnam Ultra-Bold"/>
              </a:rPr>
              <a:t>Specific Date and Time Booking:</a:t>
            </a:r>
          </a:p>
          <a:p>
            <a:pPr>
              <a:lnSpc>
                <a:spcPts val="4200"/>
              </a:lnSpc>
            </a:pPr>
            <a:r>
              <a:rPr lang="en-US" sz="3000" dirty="0">
                <a:solidFill>
                  <a:srgbClr val="000000"/>
                </a:solidFill>
                <a:latin typeface="Be Vietnam"/>
              </a:rPr>
              <a:t>       Customers can book a table for up to the next 7 days for a specific time and date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75624" y="635159"/>
            <a:ext cx="1648798" cy="587384"/>
          </a:xfrm>
          <a:custGeom>
            <a:avLst/>
            <a:gdLst/>
            <a:ahLst/>
            <a:cxnLst/>
            <a:rect l="l" t="t" r="r" b="b"/>
            <a:pathLst>
              <a:path w="1648798" h="587384">
                <a:moveTo>
                  <a:pt x="0" y="0"/>
                </a:moveTo>
                <a:lnTo>
                  <a:pt x="1648798" y="0"/>
                </a:lnTo>
                <a:lnTo>
                  <a:pt x="1648798" y="587384"/>
                </a:lnTo>
                <a:lnTo>
                  <a:pt x="0" y="5873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Freeform 3"/>
          <p:cNvSpPr/>
          <p:nvPr/>
        </p:nvSpPr>
        <p:spPr>
          <a:xfrm>
            <a:off x="8591" y="-220281"/>
            <a:ext cx="6976834" cy="10507281"/>
          </a:xfrm>
          <a:custGeom>
            <a:avLst/>
            <a:gdLst/>
            <a:ahLst/>
            <a:cxnLst/>
            <a:rect l="l" t="t" r="r" b="b"/>
            <a:pathLst>
              <a:path w="6976834" h="10507281">
                <a:moveTo>
                  <a:pt x="0" y="0"/>
                </a:moveTo>
                <a:lnTo>
                  <a:pt x="6976835" y="0"/>
                </a:lnTo>
                <a:lnTo>
                  <a:pt x="6976835" y="10507281"/>
                </a:lnTo>
                <a:lnTo>
                  <a:pt x="0" y="10507281"/>
                </a:lnTo>
                <a:lnTo>
                  <a:pt x="0" y="0"/>
                </a:lnTo>
                <a:close/>
              </a:path>
            </a:pathLst>
          </a:custGeom>
          <a:blipFill>
            <a:blip r:embed="rId4">
              <a:alphaModFix amt="90000"/>
            </a:blip>
            <a:stretch>
              <a:fillRect/>
            </a:stretch>
          </a:blipFill>
        </p:spPr>
      </p:sp>
      <p:grpSp>
        <p:nvGrpSpPr>
          <p:cNvPr id="4" name="Group 4"/>
          <p:cNvGrpSpPr/>
          <p:nvPr/>
        </p:nvGrpSpPr>
        <p:grpSpPr>
          <a:xfrm>
            <a:off x="15512661" y="9258300"/>
            <a:ext cx="2320851" cy="777492"/>
            <a:chOff x="0" y="0"/>
            <a:chExt cx="3094468" cy="1036656"/>
          </a:xfrm>
        </p:grpSpPr>
        <p:grpSp>
          <p:nvGrpSpPr>
            <p:cNvPr id="5" name="Group 5"/>
            <p:cNvGrpSpPr/>
            <p:nvPr/>
          </p:nvGrpSpPr>
          <p:grpSpPr>
            <a:xfrm>
              <a:off x="0" y="0"/>
              <a:ext cx="3094468" cy="1036656"/>
              <a:chOff x="0" y="0"/>
              <a:chExt cx="494981" cy="165820"/>
            </a:xfrm>
          </p:grpSpPr>
          <p:sp>
            <p:nvSpPr>
              <p:cNvPr id="6" name="Freeform 6"/>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7" name="TextBox 7"/>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8" name="Freeform 8"/>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5"/>
              <a:stretch>
                <a:fillRect/>
              </a:stretch>
            </a:blipFill>
          </p:spPr>
        </p:sp>
        <p:sp>
          <p:nvSpPr>
            <p:cNvPr id="9" name="TextBox 9"/>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10" name="TextBox 10"/>
          <p:cNvSpPr txBox="1"/>
          <p:nvPr/>
        </p:nvSpPr>
        <p:spPr>
          <a:xfrm>
            <a:off x="10531850" y="713138"/>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11" name="TextBox 11"/>
          <p:cNvSpPr txBox="1"/>
          <p:nvPr/>
        </p:nvSpPr>
        <p:spPr>
          <a:xfrm>
            <a:off x="8804701" y="730413"/>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12" name="TextBox 12"/>
          <p:cNvSpPr txBox="1"/>
          <p:nvPr/>
        </p:nvSpPr>
        <p:spPr>
          <a:xfrm>
            <a:off x="12282338" y="730413"/>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13" name="TextBox 13"/>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14" name="TextBox 14"/>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Other</a:t>
            </a:r>
          </a:p>
        </p:txBody>
      </p:sp>
      <p:sp>
        <p:nvSpPr>
          <p:cNvPr id="15" name="TextBox 15"/>
          <p:cNvSpPr txBox="1"/>
          <p:nvPr/>
        </p:nvSpPr>
        <p:spPr>
          <a:xfrm>
            <a:off x="8744802" y="3531166"/>
            <a:ext cx="8400198" cy="3000821"/>
          </a:xfrm>
          <a:prstGeom prst="rect">
            <a:avLst/>
          </a:prstGeom>
        </p:spPr>
        <p:txBody>
          <a:bodyPr wrap="square" lIns="0" tIns="0" rIns="0" bIns="0" rtlCol="0" anchor="t">
            <a:spAutoFit/>
          </a:bodyPr>
          <a:lstStyle/>
          <a:p>
            <a:pPr>
              <a:lnSpc>
                <a:spcPts val="6557"/>
              </a:lnSpc>
            </a:pPr>
            <a:r>
              <a:rPr lang="en-US" sz="4684" dirty="0">
                <a:solidFill>
                  <a:srgbClr val="000000"/>
                </a:solidFill>
                <a:latin typeface="Be Vietnam Bold"/>
              </a:rPr>
              <a:t>Technical Part:</a:t>
            </a:r>
          </a:p>
          <a:p>
            <a:pPr>
              <a:lnSpc>
                <a:spcPts val="5599"/>
              </a:lnSpc>
            </a:pPr>
            <a:r>
              <a:rPr lang="en-US" sz="3999" dirty="0">
                <a:solidFill>
                  <a:srgbClr val="000000"/>
                </a:solidFill>
                <a:latin typeface="Be Vietnam"/>
              </a:rPr>
              <a:t>Frontend: HTML, </a:t>
            </a:r>
            <a:r>
              <a:rPr lang="en-US" sz="3999" dirty="0" err="1" smtClean="0">
                <a:solidFill>
                  <a:srgbClr val="000000"/>
                </a:solidFill>
                <a:latin typeface="Be Vietnam"/>
              </a:rPr>
              <a:t>CSS</a:t>
            </a:r>
            <a:r>
              <a:rPr lang="en-US" sz="3999" smtClean="0">
                <a:solidFill>
                  <a:srgbClr val="000000"/>
                </a:solidFill>
                <a:latin typeface="Be Vietnam"/>
              </a:rPr>
              <a:t>, Bootstrap</a:t>
            </a:r>
            <a:endParaRPr lang="en-US" sz="3999" dirty="0">
              <a:solidFill>
                <a:srgbClr val="000000"/>
              </a:solidFill>
              <a:latin typeface="Be Vietnam"/>
            </a:endParaRPr>
          </a:p>
          <a:p>
            <a:pPr>
              <a:lnSpc>
                <a:spcPts val="5599"/>
              </a:lnSpc>
            </a:pPr>
            <a:r>
              <a:rPr lang="en-US" sz="3999" dirty="0">
                <a:solidFill>
                  <a:srgbClr val="000000"/>
                </a:solidFill>
                <a:latin typeface="Be Vietnam"/>
              </a:rPr>
              <a:t>Backend: </a:t>
            </a:r>
            <a:r>
              <a:rPr lang="en-US" sz="3999" dirty="0" err="1">
                <a:solidFill>
                  <a:srgbClr val="000000"/>
                </a:solidFill>
                <a:latin typeface="Be Vietnam"/>
              </a:rPr>
              <a:t>PHP</a:t>
            </a:r>
            <a:endParaRPr lang="en-US" sz="3999" dirty="0">
              <a:solidFill>
                <a:srgbClr val="000000"/>
              </a:solidFill>
              <a:latin typeface="Be Vietnam"/>
            </a:endParaRPr>
          </a:p>
          <a:p>
            <a:pPr>
              <a:lnSpc>
                <a:spcPts val="5599"/>
              </a:lnSpc>
              <a:spcBef>
                <a:spcPct val="0"/>
              </a:spcBef>
            </a:pPr>
            <a:r>
              <a:rPr lang="en-US" sz="3999" dirty="0">
                <a:solidFill>
                  <a:srgbClr val="000000"/>
                </a:solidFill>
                <a:latin typeface="Be Vietnam"/>
              </a:rPr>
              <a:t>Database: </a:t>
            </a:r>
            <a:r>
              <a:rPr lang="en-US" sz="3999" dirty="0" err="1">
                <a:solidFill>
                  <a:srgbClr val="000000"/>
                </a:solidFill>
                <a:latin typeface="Be Vietnam"/>
              </a:rPr>
              <a:t>MySQl</a:t>
            </a:r>
            <a:endParaRPr lang="en-US" sz="3999" dirty="0">
              <a:solidFill>
                <a:srgbClr val="000000"/>
              </a:solidFill>
              <a:latin typeface="Be Vietnam"/>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75624" y="635159"/>
            <a:ext cx="1648798" cy="587384"/>
          </a:xfrm>
          <a:custGeom>
            <a:avLst/>
            <a:gdLst/>
            <a:ahLst/>
            <a:cxnLst/>
            <a:rect l="l" t="t" r="r" b="b"/>
            <a:pathLst>
              <a:path w="1648798" h="587384">
                <a:moveTo>
                  <a:pt x="0" y="0"/>
                </a:moveTo>
                <a:lnTo>
                  <a:pt x="1648798" y="0"/>
                </a:lnTo>
                <a:lnTo>
                  <a:pt x="1648798" y="587384"/>
                </a:lnTo>
                <a:lnTo>
                  <a:pt x="0" y="5873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grpSp>
        <p:nvGrpSpPr>
          <p:cNvPr id="3" name="Group 3"/>
          <p:cNvGrpSpPr/>
          <p:nvPr/>
        </p:nvGrpSpPr>
        <p:grpSpPr>
          <a:xfrm>
            <a:off x="1028700" y="526610"/>
            <a:ext cx="2320851" cy="777492"/>
            <a:chOff x="0" y="0"/>
            <a:chExt cx="3094468" cy="1036656"/>
          </a:xfrm>
        </p:grpSpPr>
        <p:grpSp>
          <p:nvGrpSpPr>
            <p:cNvPr id="4" name="Group 4"/>
            <p:cNvGrpSpPr/>
            <p:nvPr/>
          </p:nvGrpSpPr>
          <p:grpSpPr>
            <a:xfrm>
              <a:off x="0" y="0"/>
              <a:ext cx="3094468" cy="1036656"/>
              <a:chOff x="0" y="0"/>
              <a:chExt cx="494981" cy="165820"/>
            </a:xfrm>
          </p:grpSpPr>
          <p:sp>
            <p:nvSpPr>
              <p:cNvPr id="5" name="Freeform 5"/>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6" name="TextBox 6"/>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7" name="Freeform 7"/>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8" name="TextBox 8"/>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9" name="Freeform 9"/>
          <p:cNvSpPr/>
          <p:nvPr/>
        </p:nvSpPr>
        <p:spPr>
          <a:xfrm>
            <a:off x="9943504" y="2790389"/>
            <a:ext cx="7503317" cy="4706221"/>
          </a:xfrm>
          <a:custGeom>
            <a:avLst/>
            <a:gdLst/>
            <a:ahLst/>
            <a:cxnLst/>
            <a:rect l="l" t="t" r="r" b="b"/>
            <a:pathLst>
              <a:path w="7503317" h="4706221">
                <a:moveTo>
                  <a:pt x="0" y="0"/>
                </a:moveTo>
                <a:lnTo>
                  <a:pt x="7503316" y="0"/>
                </a:lnTo>
                <a:lnTo>
                  <a:pt x="7503316" y="4706222"/>
                </a:lnTo>
                <a:lnTo>
                  <a:pt x="0" y="4706222"/>
                </a:lnTo>
                <a:lnTo>
                  <a:pt x="0" y="0"/>
                </a:lnTo>
                <a:close/>
              </a:path>
            </a:pathLst>
          </a:custGeom>
          <a:blipFill>
            <a:blip r:embed="rId5"/>
            <a:stretch>
              <a:fillRect l="-628" t="-20326"/>
            </a:stretch>
          </a:blipFill>
        </p:spPr>
      </p:sp>
      <p:sp>
        <p:nvSpPr>
          <p:cNvPr id="10" name="TextBox 10"/>
          <p:cNvSpPr txBox="1"/>
          <p:nvPr/>
        </p:nvSpPr>
        <p:spPr>
          <a:xfrm>
            <a:off x="10531850" y="698851"/>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11" name="TextBox 11"/>
          <p:cNvSpPr txBox="1"/>
          <p:nvPr/>
        </p:nvSpPr>
        <p:spPr>
          <a:xfrm>
            <a:off x="8804701" y="727426"/>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12" name="TextBox 12"/>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13" name="TextBox 13"/>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14" name="TextBox 14"/>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Other</a:t>
            </a:r>
          </a:p>
        </p:txBody>
      </p:sp>
      <p:sp>
        <p:nvSpPr>
          <p:cNvPr id="15" name="TextBox 15"/>
          <p:cNvSpPr txBox="1"/>
          <p:nvPr/>
        </p:nvSpPr>
        <p:spPr>
          <a:xfrm>
            <a:off x="2189126" y="2512333"/>
            <a:ext cx="6567783" cy="4752036"/>
          </a:xfrm>
          <a:prstGeom prst="rect">
            <a:avLst/>
          </a:prstGeom>
        </p:spPr>
        <p:txBody>
          <a:bodyPr lIns="0" tIns="0" rIns="0" bIns="0" rtlCol="0" anchor="t">
            <a:spAutoFit/>
          </a:bodyPr>
          <a:lstStyle/>
          <a:p>
            <a:pPr>
              <a:lnSpc>
                <a:spcPts val="6439"/>
              </a:lnSpc>
            </a:pPr>
            <a:r>
              <a:rPr lang="en-US" sz="4599">
                <a:solidFill>
                  <a:srgbClr val="000000"/>
                </a:solidFill>
                <a:latin typeface="Be Vietnam Ultra-Bold"/>
              </a:rPr>
              <a:t>Methodology:</a:t>
            </a:r>
          </a:p>
          <a:p>
            <a:pPr>
              <a:lnSpc>
                <a:spcPts val="6439"/>
              </a:lnSpc>
            </a:pPr>
            <a:endParaRPr lang="en-US" sz="4599">
              <a:solidFill>
                <a:srgbClr val="000000"/>
              </a:solidFill>
              <a:latin typeface="Be Vietnam Ultra-Bold"/>
            </a:endParaRPr>
          </a:p>
          <a:p>
            <a:pPr>
              <a:lnSpc>
                <a:spcPts val="6263"/>
              </a:lnSpc>
              <a:spcBef>
                <a:spcPct val="0"/>
              </a:spcBef>
            </a:pPr>
            <a:r>
              <a:rPr lang="en-US" sz="4473">
                <a:solidFill>
                  <a:srgbClr val="000000"/>
                </a:solidFill>
                <a:latin typeface="Be Vietnam"/>
              </a:rPr>
              <a:t>The Waterfall Model is a traditional and linear approach to software development.</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375624" y="635159"/>
            <a:ext cx="1648798" cy="587384"/>
          </a:xfrm>
          <a:custGeom>
            <a:avLst/>
            <a:gdLst/>
            <a:ahLst/>
            <a:cxnLst/>
            <a:rect l="l" t="t" r="r" b="b"/>
            <a:pathLst>
              <a:path w="1648798" h="587384">
                <a:moveTo>
                  <a:pt x="0" y="0"/>
                </a:moveTo>
                <a:lnTo>
                  <a:pt x="1648798" y="0"/>
                </a:lnTo>
                <a:lnTo>
                  <a:pt x="1648798" y="587384"/>
                </a:lnTo>
                <a:lnTo>
                  <a:pt x="0" y="587384"/>
                </a:lnTo>
                <a:lnTo>
                  <a:pt x="0" y="0"/>
                </a:lnTo>
                <a:close/>
              </a:path>
            </a:pathLst>
          </a:custGeom>
          <a:blipFill>
            <a:blip r:embed="rId2">
              <a:extLst>
                <a:ext uri="{96DAC541-7B7A-43D3-8B79-37D633B846F1}">
                  <asvg:svgBlip xmlns="" xmlns:asvg="http://schemas.microsoft.com/office/drawing/2016/SVG/main" r:embed="rId3"/>
                </a:ext>
              </a:extLst>
            </a:blip>
            <a:stretch>
              <a:fillRect/>
            </a:stretch>
          </a:blipFill>
        </p:spPr>
      </p:sp>
      <p:sp>
        <p:nvSpPr>
          <p:cNvPr id="3" name="TextBox 3"/>
          <p:cNvSpPr txBox="1"/>
          <p:nvPr/>
        </p:nvSpPr>
        <p:spPr>
          <a:xfrm>
            <a:off x="10531850" y="698851"/>
            <a:ext cx="1521888" cy="349250"/>
          </a:xfrm>
          <a:prstGeom prst="rect">
            <a:avLst/>
          </a:prstGeom>
        </p:spPr>
        <p:txBody>
          <a:bodyPr lIns="0" tIns="0" rIns="0" bIns="0" rtlCol="0" anchor="t">
            <a:spAutoFit/>
          </a:bodyPr>
          <a:lstStyle/>
          <a:p>
            <a:pPr algn="ctr">
              <a:lnSpc>
                <a:spcPts val="2800"/>
              </a:lnSpc>
            </a:pPr>
            <a:r>
              <a:rPr lang="en-US" sz="2000">
                <a:solidFill>
                  <a:srgbClr val="000000"/>
                </a:solidFill>
                <a:latin typeface="Be Vietnam"/>
              </a:rPr>
              <a:t>Introduction</a:t>
            </a:r>
          </a:p>
        </p:txBody>
      </p:sp>
      <p:sp>
        <p:nvSpPr>
          <p:cNvPr id="4" name="TextBox 4"/>
          <p:cNvSpPr txBox="1"/>
          <p:nvPr/>
        </p:nvSpPr>
        <p:spPr>
          <a:xfrm>
            <a:off x="8804701" y="727426"/>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Agenda</a:t>
            </a:r>
          </a:p>
        </p:txBody>
      </p:sp>
      <p:sp>
        <p:nvSpPr>
          <p:cNvPr id="5" name="TextBox 5"/>
          <p:cNvSpPr txBox="1"/>
          <p:nvPr/>
        </p:nvSpPr>
        <p:spPr>
          <a:xfrm>
            <a:off x="12282338"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Problem</a:t>
            </a:r>
          </a:p>
        </p:txBody>
      </p:sp>
      <p:sp>
        <p:nvSpPr>
          <p:cNvPr id="6" name="TextBox 6"/>
          <p:cNvSpPr txBox="1"/>
          <p:nvPr/>
        </p:nvSpPr>
        <p:spPr>
          <a:xfrm>
            <a:off x="13895187" y="713138"/>
            <a:ext cx="1412824" cy="349250"/>
          </a:xfrm>
          <a:prstGeom prst="rect">
            <a:avLst/>
          </a:prstGeom>
        </p:spPr>
        <p:txBody>
          <a:bodyPr lIns="0" tIns="0" rIns="0" bIns="0" rtlCol="0" anchor="t">
            <a:spAutoFit/>
          </a:bodyPr>
          <a:lstStyle/>
          <a:p>
            <a:pPr algn="ctr">
              <a:lnSpc>
                <a:spcPts val="2800"/>
              </a:lnSpc>
            </a:pPr>
            <a:r>
              <a:rPr lang="en-US" sz="2000">
                <a:solidFill>
                  <a:srgbClr val="2B2B2B"/>
                </a:solidFill>
                <a:latin typeface="Be Vietnam"/>
              </a:rPr>
              <a:t>Solution</a:t>
            </a:r>
          </a:p>
        </p:txBody>
      </p:sp>
      <p:sp>
        <p:nvSpPr>
          <p:cNvPr id="7" name="TextBox 7"/>
          <p:cNvSpPr txBox="1"/>
          <p:nvPr/>
        </p:nvSpPr>
        <p:spPr>
          <a:xfrm>
            <a:off x="15512661" y="713138"/>
            <a:ext cx="1412824" cy="349250"/>
          </a:xfrm>
          <a:prstGeom prst="rect">
            <a:avLst/>
          </a:prstGeom>
        </p:spPr>
        <p:txBody>
          <a:bodyPr lIns="0" tIns="0" rIns="0" bIns="0" rtlCol="0" anchor="t">
            <a:spAutoFit/>
          </a:bodyPr>
          <a:lstStyle/>
          <a:p>
            <a:pPr algn="ctr">
              <a:lnSpc>
                <a:spcPts val="2800"/>
              </a:lnSpc>
            </a:pPr>
            <a:r>
              <a:rPr lang="en-US" sz="2000">
                <a:solidFill>
                  <a:srgbClr val="FFFFFF"/>
                </a:solidFill>
                <a:latin typeface="Be Vietnam"/>
              </a:rPr>
              <a:t>Other</a:t>
            </a:r>
          </a:p>
        </p:txBody>
      </p:sp>
      <p:grpSp>
        <p:nvGrpSpPr>
          <p:cNvPr id="8" name="Group 8"/>
          <p:cNvGrpSpPr/>
          <p:nvPr/>
        </p:nvGrpSpPr>
        <p:grpSpPr>
          <a:xfrm>
            <a:off x="1028700" y="526610"/>
            <a:ext cx="2320851" cy="777492"/>
            <a:chOff x="0" y="0"/>
            <a:chExt cx="3094468" cy="1036656"/>
          </a:xfrm>
        </p:grpSpPr>
        <p:grpSp>
          <p:nvGrpSpPr>
            <p:cNvPr id="9" name="Group 9"/>
            <p:cNvGrpSpPr/>
            <p:nvPr/>
          </p:nvGrpSpPr>
          <p:grpSpPr>
            <a:xfrm>
              <a:off x="0" y="0"/>
              <a:ext cx="3094468" cy="1036656"/>
              <a:chOff x="0" y="0"/>
              <a:chExt cx="494981" cy="165820"/>
            </a:xfrm>
          </p:grpSpPr>
          <p:sp>
            <p:nvSpPr>
              <p:cNvPr id="10" name="Freeform 10"/>
              <p:cNvSpPr/>
              <p:nvPr/>
            </p:nvSpPr>
            <p:spPr>
              <a:xfrm>
                <a:off x="0" y="0"/>
                <a:ext cx="494981" cy="165820"/>
              </a:xfrm>
              <a:custGeom>
                <a:avLst/>
                <a:gdLst/>
                <a:ahLst/>
                <a:cxnLst/>
                <a:rect l="l" t="t" r="r" b="b"/>
                <a:pathLst>
                  <a:path w="494981" h="165820">
                    <a:moveTo>
                      <a:pt x="0" y="0"/>
                    </a:moveTo>
                    <a:lnTo>
                      <a:pt x="494981" y="0"/>
                    </a:lnTo>
                    <a:lnTo>
                      <a:pt x="494981" y="165820"/>
                    </a:lnTo>
                    <a:lnTo>
                      <a:pt x="0" y="165820"/>
                    </a:lnTo>
                    <a:close/>
                  </a:path>
                </a:pathLst>
              </a:custGeom>
              <a:solidFill>
                <a:srgbClr val="FFFFFF"/>
              </a:solidFill>
            </p:spPr>
          </p:sp>
          <p:sp>
            <p:nvSpPr>
              <p:cNvPr id="11" name="TextBox 11"/>
              <p:cNvSpPr txBox="1"/>
              <p:nvPr/>
            </p:nvSpPr>
            <p:spPr>
              <a:xfrm>
                <a:off x="0" y="-38100"/>
                <a:ext cx="494981" cy="203920"/>
              </a:xfrm>
              <a:prstGeom prst="rect">
                <a:avLst/>
              </a:prstGeom>
            </p:spPr>
            <p:txBody>
              <a:bodyPr lIns="50800" tIns="50800" rIns="50800" bIns="50800" rtlCol="0" anchor="ctr"/>
              <a:lstStyle/>
              <a:p>
                <a:pPr algn="ctr">
                  <a:lnSpc>
                    <a:spcPts val="2783"/>
                  </a:lnSpc>
                </a:pPr>
                <a:endParaRPr/>
              </a:p>
            </p:txBody>
          </p:sp>
        </p:grpSp>
        <p:sp>
          <p:nvSpPr>
            <p:cNvPr id="12" name="Freeform 12"/>
            <p:cNvSpPr/>
            <p:nvPr/>
          </p:nvSpPr>
          <p:spPr>
            <a:xfrm>
              <a:off x="47050" y="64675"/>
              <a:ext cx="887858" cy="887858"/>
            </a:xfrm>
            <a:custGeom>
              <a:avLst/>
              <a:gdLst/>
              <a:ahLst/>
              <a:cxnLst/>
              <a:rect l="l" t="t" r="r" b="b"/>
              <a:pathLst>
                <a:path w="887858" h="887858">
                  <a:moveTo>
                    <a:pt x="0" y="0"/>
                  </a:moveTo>
                  <a:lnTo>
                    <a:pt x="887858" y="0"/>
                  </a:lnTo>
                  <a:lnTo>
                    <a:pt x="887858" y="887858"/>
                  </a:lnTo>
                  <a:lnTo>
                    <a:pt x="0" y="887858"/>
                  </a:lnTo>
                  <a:lnTo>
                    <a:pt x="0" y="0"/>
                  </a:lnTo>
                  <a:close/>
                </a:path>
              </a:pathLst>
            </a:custGeom>
            <a:blipFill>
              <a:blip r:embed="rId4"/>
              <a:stretch>
                <a:fillRect/>
              </a:stretch>
            </a:blipFill>
          </p:spPr>
        </p:sp>
        <p:sp>
          <p:nvSpPr>
            <p:cNvPr id="13" name="TextBox 13"/>
            <p:cNvSpPr txBox="1"/>
            <p:nvPr/>
          </p:nvSpPr>
          <p:spPr>
            <a:xfrm>
              <a:off x="1105599" y="206068"/>
              <a:ext cx="1988870" cy="691195"/>
            </a:xfrm>
            <a:prstGeom prst="rect">
              <a:avLst/>
            </a:prstGeom>
          </p:spPr>
          <p:txBody>
            <a:bodyPr lIns="0" tIns="0" rIns="0" bIns="0" rtlCol="0" anchor="t">
              <a:spAutoFit/>
            </a:bodyPr>
            <a:lstStyle/>
            <a:p>
              <a:pPr>
                <a:lnSpc>
                  <a:spcPts val="3843"/>
                </a:lnSpc>
              </a:pPr>
              <a:r>
                <a:rPr lang="en-US" sz="3768">
                  <a:solidFill>
                    <a:srgbClr val="000000"/>
                  </a:solidFill>
                  <a:latin typeface="Montserrat Bold"/>
                </a:rPr>
                <a:t>CS1.6</a:t>
              </a:r>
            </a:p>
          </p:txBody>
        </p:sp>
      </p:grpSp>
      <p:sp>
        <p:nvSpPr>
          <p:cNvPr id="14" name="TextBox 14"/>
          <p:cNvSpPr txBox="1"/>
          <p:nvPr/>
        </p:nvSpPr>
        <p:spPr>
          <a:xfrm>
            <a:off x="3571681" y="4194175"/>
            <a:ext cx="10466040" cy="1708151"/>
          </a:xfrm>
          <a:prstGeom prst="rect">
            <a:avLst/>
          </a:prstGeom>
        </p:spPr>
        <p:txBody>
          <a:bodyPr lIns="0" tIns="0" rIns="0" bIns="0" rtlCol="0" anchor="t">
            <a:spAutoFit/>
          </a:bodyPr>
          <a:lstStyle/>
          <a:p>
            <a:pPr algn="ctr">
              <a:lnSpc>
                <a:spcPts val="13999"/>
              </a:lnSpc>
              <a:spcBef>
                <a:spcPct val="0"/>
              </a:spcBef>
            </a:pPr>
            <a:r>
              <a:rPr lang="en-US" sz="9999">
                <a:solidFill>
                  <a:srgbClr val="000000"/>
                </a:solidFill>
                <a:latin typeface="Be Vietnam Bold"/>
              </a:rPr>
              <a:t>Thank You</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378</Words>
  <Application>Microsoft Office PowerPoint</Application>
  <PresentationFormat>Custom</PresentationFormat>
  <Paragraphs>108</Paragraphs>
  <Slides>11</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vt:i4>
      </vt:variant>
    </vt:vector>
  </HeadingPairs>
  <TitlesOfParts>
    <vt:vector size="20" baseType="lpstr">
      <vt:lpstr>Be Vietnam Ultra-Bold</vt:lpstr>
      <vt:lpstr>Calibri</vt:lpstr>
      <vt:lpstr>Be Vietnam Bold</vt:lpstr>
      <vt:lpstr>Be Vietnam</vt:lpstr>
      <vt:lpstr>Montserrat</vt:lpstr>
      <vt:lpstr>Montserrat Bold</vt:lpstr>
      <vt:lpstr>Arial</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Black and Orange Unique Modern Business Presentation</dc:title>
  <cp:lastModifiedBy>Microsoft account</cp:lastModifiedBy>
  <cp:revision>3</cp:revision>
  <dcterms:created xsi:type="dcterms:W3CDTF">2006-08-16T00:00:00Z</dcterms:created>
  <dcterms:modified xsi:type="dcterms:W3CDTF">2024-02-27T05:14:10Z</dcterms:modified>
  <dc:identifier>DAF94Ei0sQE</dc:identifier>
</cp:coreProperties>
</file>